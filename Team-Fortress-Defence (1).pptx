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Inter" panose="020B0604020202020204" charset="0"/>
      <p:regular r:id="rId13"/>
      <p:bold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1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tabLst>
                <a:tab pos="0" algn="l"/>
              </a:tabLst>
            </a:pPr>
            <a:r>
              <a:rPr lang="en-US" sz="4400" b="0" u="none" strike="noStrike">
                <a:solidFill>
                  <a:schemeClr val="dk1"/>
                </a:solidFill>
                <a:effectLst/>
                <a:uFillTx/>
                <a:latin typeface="Calibri Light"/>
              </a:rPr>
              <a:t>Click to move the slide</a:t>
            </a:r>
          </a:p>
        </p:txBody>
      </p:sp>
      <p:sp>
        <p:nvSpPr>
          <p:cNvPr id="5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57"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58"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59"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AADCC0E-09F0-49F1-96B0-E24FA3458979}"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noRot="1" noChangeAspect="1"/>
          </p:cNvSpPr>
          <p:nvPr>
            <p:ph type="sldImg"/>
          </p:nvPr>
        </p:nvSpPr>
        <p:spPr>
          <a:xfrm>
            <a:off x="685800" y="1143000"/>
            <a:ext cx="5486400" cy="3086100"/>
          </a:xfrm>
          <a:prstGeom prst="rect">
            <a:avLst/>
          </a:prstGeom>
          <a:ln w="0">
            <a:noFill/>
          </a:ln>
        </p:spPr>
      </p:sp>
      <p:sp>
        <p:nvSpPr>
          <p:cNvPr id="1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721ADEA-3576-400F-9A1A-5DF16078E709}"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noRot="1" noChangeAspect="1"/>
          </p:cNvSpPr>
          <p:nvPr>
            <p:ph type="sldImg"/>
          </p:nvPr>
        </p:nvSpPr>
        <p:spPr>
          <a:xfrm>
            <a:off x="685800" y="1143000"/>
            <a:ext cx="5486400" cy="3086100"/>
          </a:xfrm>
          <a:prstGeom prst="rect">
            <a:avLst/>
          </a:prstGeom>
          <a:ln w="0">
            <a:noFill/>
          </a:ln>
        </p:spPr>
      </p:sp>
      <p:sp>
        <p:nvSpPr>
          <p:cNvPr id="1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0B0F388-909D-4DB0-958D-4822458E6661}"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noRot="1" noChangeAspect="1"/>
          </p:cNvSpPr>
          <p:nvPr>
            <p:ph type="sldImg"/>
          </p:nvPr>
        </p:nvSpPr>
        <p:spPr>
          <a:xfrm>
            <a:off x="685800" y="1143000"/>
            <a:ext cx="5485680" cy="3085560"/>
          </a:xfrm>
          <a:prstGeom prst="rect">
            <a:avLst/>
          </a:prstGeom>
          <a:ln w="0">
            <a:noFill/>
          </a:ln>
        </p:spPr>
      </p:sp>
      <p:sp>
        <p:nvSpPr>
          <p:cNvPr id="1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1B6F647-37A5-48FB-8EDA-2CB7E8E51B41}"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noRot="1" noChangeAspect="1"/>
          </p:cNvSpPr>
          <p:nvPr>
            <p:ph type="sldImg"/>
          </p:nvPr>
        </p:nvSpPr>
        <p:spPr>
          <a:xfrm>
            <a:off x="685800" y="1143000"/>
            <a:ext cx="5485680" cy="3085560"/>
          </a:xfrm>
          <a:prstGeom prst="rect">
            <a:avLst/>
          </a:prstGeom>
          <a:ln w="0">
            <a:noFill/>
          </a:ln>
        </p:spPr>
      </p:sp>
      <p:sp>
        <p:nvSpPr>
          <p:cNvPr id="1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807DD14-0CA3-41F5-A316-B40A7167A3EE}"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noRot="1" noChangeAspect="1"/>
          </p:cNvSpPr>
          <p:nvPr>
            <p:ph type="sldImg"/>
          </p:nvPr>
        </p:nvSpPr>
        <p:spPr>
          <a:xfrm>
            <a:off x="685800" y="1143000"/>
            <a:ext cx="5485680" cy="3085560"/>
          </a:xfrm>
          <a:prstGeom prst="rect">
            <a:avLst/>
          </a:prstGeom>
          <a:ln w="0">
            <a:noFill/>
          </a:ln>
        </p:spPr>
      </p:sp>
      <p:sp>
        <p:nvSpPr>
          <p:cNvPr id="1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BE2A507-D498-4CB2-B3FE-739A22E9B37B}"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685800" y="1143000"/>
            <a:ext cx="5485680" cy="3085560"/>
          </a:xfrm>
          <a:prstGeom prst="rect">
            <a:avLst/>
          </a:prstGeom>
          <a:ln w="0">
            <a:noFill/>
          </a:ln>
        </p:spPr>
      </p:sp>
      <p:sp>
        <p:nvSpPr>
          <p:cNvPr id="1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0"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58504E4-CA6F-4321-9E08-BC7BB85DC451}"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noRot="1" noChangeAspect="1"/>
          </p:cNvSpPr>
          <p:nvPr>
            <p:ph type="sldImg"/>
          </p:nvPr>
        </p:nvSpPr>
        <p:spPr>
          <a:xfrm>
            <a:off x="685800" y="1143000"/>
            <a:ext cx="5485680" cy="3085560"/>
          </a:xfrm>
          <a:prstGeom prst="rect">
            <a:avLst/>
          </a:prstGeom>
          <a:ln w="0">
            <a:noFill/>
          </a:ln>
        </p:spPr>
      </p:sp>
      <p:sp>
        <p:nvSpPr>
          <p:cNvPr id="1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3"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0BBB0A2-3884-46C2-8B0D-54CC523B237B}"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5680" cy="3085560"/>
          </a:xfrm>
          <a:prstGeom prst="rect">
            <a:avLst/>
          </a:prstGeom>
          <a:ln w="0">
            <a:noFill/>
          </a:ln>
        </p:spPr>
      </p:sp>
      <p:sp>
        <p:nvSpPr>
          <p:cNvPr id="1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6"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E635C3C-F203-433D-AFE0-E597A1DBEFC9}"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685800" y="1143000"/>
            <a:ext cx="5485680" cy="3085560"/>
          </a:xfrm>
          <a:prstGeom prst="rect">
            <a:avLst/>
          </a:prstGeom>
          <a:ln w="0">
            <a:noFill/>
          </a:ln>
        </p:spPr>
      </p:sp>
      <p:sp>
        <p:nvSpPr>
          <p:cNvPr id="1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69"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A863492-7BFA-49FD-B0F8-9C60C66F0949}"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noRot="1" noChangeAspect="1"/>
          </p:cNvSpPr>
          <p:nvPr>
            <p:ph type="sldImg"/>
          </p:nvPr>
        </p:nvSpPr>
        <p:spPr>
          <a:xfrm>
            <a:off x="685800" y="1143000"/>
            <a:ext cx="5485680" cy="3085560"/>
          </a:xfrm>
          <a:prstGeom prst="rect">
            <a:avLst/>
          </a:prstGeom>
          <a:ln w="0">
            <a:noFill/>
          </a:ln>
        </p:spPr>
      </p:sp>
      <p:sp>
        <p:nvSpPr>
          <p:cNvPr id="1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72"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92A43FC-E7FB-41D3-A742-F83F5A1B943E}"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lide 5 master">
    <p:spTree>
      <p:nvGrpSpPr>
        <p:cNvPr id="1" name=""/>
        <p:cNvGrpSpPr/>
        <p:nvPr/>
      </p:nvGrpSpPr>
      <p:grpSpPr>
        <a:xfrm>
          <a:off x="0" y="0"/>
          <a:ext cx="0" cy="0"/>
          <a:chOff x="0" y="0"/>
          <a:chExt cx="0" cy="0"/>
        </a:xfrm>
      </p:grpSpPr>
      <p:sp>
        <p:nvSpPr>
          <p:cNvPr id="2"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lide 6 master">
    <p:spTree>
      <p:nvGrpSpPr>
        <p:cNvPr id="1" name=""/>
        <p:cNvGrpSpPr/>
        <p:nvPr/>
      </p:nvGrpSpPr>
      <p:grpSpPr>
        <a:xfrm>
          <a:off x="0" y="0"/>
          <a:ext cx="0" cy="0"/>
          <a:chOff x="0" y="0"/>
          <a:chExt cx="0" cy="0"/>
        </a:xfrm>
      </p:grpSpPr>
      <p:sp>
        <p:nvSpPr>
          <p:cNvPr id="7"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1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1"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lide 7 master">
    <p:spTree>
      <p:nvGrpSpPr>
        <p:cNvPr id="1" name=""/>
        <p:cNvGrpSpPr/>
        <p:nvPr/>
      </p:nvGrpSpPr>
      <p:grpSpPr>
        <a:xfrm>
          <a:off x="0" y="0"/>
          <a:ext cx="0" cy="0"/>
          <a:chOff x="0" y="0"/>
          <a:chExt cx="0" cy="0"/>
        </a:xfrm>
      </p:grpSpPr>
      <p:sp>
        <p:nvSpPr>
          <p:cNvPr id="12"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4"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1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lide 8 master">
    <p:spTree>
      <p:nvGrpSpPr>
        <p:cNvPr id="1" name=""/>
        <p:cNvGrpSpPr/>
        <p:nvPr/>
      </p:nvGrpSpPr>
      <p:grpSpPr>
        <a:xfrm>
          <a:off x="0" y="0"/>
          <a:ext cx="0" cy="0"/>
          <a:chOff x="0" y="0"/>
          <a:chExt cx="0" cy="0"/>
        </a:xfrm>
      </p:grpSpPr>
      <p:sp>
        <p:nvSpPr>
          <p:cNvPr id="17"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9"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2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1"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lide 9 master">
    <p:spTree>
      <p:nvGrpSpPr>
        <p:cNvPr id="1" name=""/>
        <p:cNvGrpSpPr/>
        <p:nvPr/>
      </p:nvGrpSpPr>
      <p:grpSpPr>
        <a:xfrm>
          <a:off x="0" y="0"/>
          <a:ext cx="0" cy="0"/>
          <a:chOff x="0" y="0"/>
          <a:chExt cx="0" cy="0"/>
        </a:xfrm>
      </p:grpSpPr>
      <p:sp>
        <p:nvSpPr>
          <p:cNvPr id="22"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4"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2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lide 10 master">
    <p:spTree>
      <p:nvGrpSpPr>
        <p:cNvPr id="1" name=""/>
        <p:cNvGrpSpPr/>
        <p:nvPr/>
      </p:nvGrpSpPr>
      <p:grpSpPr>
        <a:xfrm>
          <a:off x="0" y="0"/>
          <a:ext cx="0" cy="0"/>
          <a:chOff x="0" y="0"/>
          <a:chExt cx="0" cy="0"/>
        </a:xfrm>
      </p:grpSpPr>
      <p:sp>
        <p:nvSpPr>
          <p:cNvPr id="27"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9"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30"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1"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lide 11 master">
    <p:spTree>
      <p:nvGrpSpPr>
        <p:cNvPr id="1" name=""/>
        <p:cNvGrpSpPr/>
        <p:nvPr/>
      </p:nvGrpSpPr>
      <p:grpSpPr>
        <a:xfrm>
          <a:off x="0" y="0"/>
          <a:ext cx="0" cy="0"/>
          <a:chOff x="0" y="0"/>
          <a:chExt cx="0" cy="0"/>
        </a:xfrm>
      </p:grpSpPr>
      <p:sp>
        <p:nvSpPr>
          <p:cNvPr id="32"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4" name="Image 0" descr="preencoded.png">
            <a:hlinkClick r:id="rId2"/>
          </p:cNvPr>
          <p:cNvPicPr/>
          <p:nvPr/>
        </p:nvPicPr>
        <p:blipFill>
          <a:blip r:embed="rId3"/>
          <a:stretch/>
        </p:blipFill>
        <p:spPr>
          <a:xfrm>
            <a:off x="8029080" y="4844520"/>
            <a:ext cx="1071000" cy="25524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lide 1 master">
    <p:spTree>
      <p:nvGrpSpPr>
        <p:cNvPr id="1" name=""/>
        <p:cNvGrpSpPr/>
        <p:nvPr/>
      </p:nvGrpSpPr>
      <p:grpSpPr>
        <a:xfrm>
          <a:off x="0" y="0"/>
          <a:ext cx="0" cy="0"/>
          <a:chOff x="0" y="0"/>
          <a:chExt cx="0" cy="0"/>
        </a:xfrm>
      </p:grpSpPr>
      <p:sp>
        <p:nvSpPr>
          <p:cNvPr id="35"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7"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3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9"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lide 2 master">
    <p:spTree>
      <p:nvGrpSpPr>
        <p:cNvPr id="1" name=""/>
        <p:cNvGrpSpPr/>
        <p:nvPr/>
      </p:nvGrpSpPr>
      <p:grpSpPr>
        <a:xfrm>
          <a:off x="0" y="0"/>
          <a:ext cx="0" cy="0"/>
          <a:chOff x="0" y="0"/>
          <a:chExt cx="0" cy="0"/>
        </a:xfrm>
      </p:grpSpPr>
      <p:sp>
        <p:nvSpPr>
          <p:cNvPr id="40"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2"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43"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4"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lide 3 master">
    <p:spTree>
      <p:nvGrpSpPr>
        <p:cNvPr id="1" name=""/>
        <p:cNvGrpSpPr/>
        <p:nvPr/>
      </p:nvGrpSpPr>
      <p:grpSpPr>
        <a:xfrm>
          <a:off x="0" y="0"/>
          <a:ext cx="0" cy="0"/>
          <a:chOff x="0" y="0"/>
          <a:chExt cx="0" cy="0"/>
        </a:xfrm>
      </p:grpSpPr>
      <p:sp>
        <p:nvSpPr>
          <p:cNvPr id="45"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7"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48"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9"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 4 master">
    <p:spTree>
      <p:nvGrpSpPr>
        <p:cNvPr id="1" name=""/>
        <p:cNvGrpSpPr/>
        <p:nvPr/>
      </p:nvGrpSpPr>
      <p:grpSpPr>
        <a:xfrm>
          <a:off x="0" y="0"/>
          <a:ext cx="0" cy="0"/>
          <a:chOff x="0" y="0"/>
          <a:chExt cx="0" cy="0"/>
        </a:xfrm>
      </p:grpSpPr>
      <p:sp>
        <p:nvSpPr>
          <p:cNvPr id="50" name="Shape 0"/>
          <p:cNvSpPr/>
          <p:nvPr/>
        </p:nvSpPr>
        <p:spPr>
          <a:xfrm>
            <a:off x="0" y="0"/>
            <a:ext cx="9143280" cy="5142960"/>
          </a:xfrm>
          <a:prstGeom prst="rect">
            <a:avLst/>
          </a:prstGeom>
          <a:solidFill>
            <a:srgbClr val="F6F4F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Shape 1"/>
          <p:cNvSpPr/>
          <p:nvPr/>
        </p:nvSpPr>
        <p:spPr>
          <a:xfrm>
            <a:off x="0" y="0"/>
            <a:ext cx="9143280" cy="51429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52" name="Image 0" descr="preencoded.png">
            <a:hlinkClick r:id="rId2"/>
          </p:cNvPr>
          <p:cNvPicPr/>
          <p:nvPr/>
        </p:nvPicPr>
        <p:blipFill>
          <a:blip r:embed="rId3"/>
          <a:stretch/>
        </p:blipFill>
        <p:spPr>
          <a:xfrm>
            <a:off x="8029080" y="4844520"/>
            <a:ext cx="1071000" cy="255240"/>
          </a:xfrm>
          <a:prstGeom prst="rect">
            <a:avLst/>
          </a:prstGeom>
          <a:noFill/>
          <a:ln w="0">
            <a:noFill/>
          </a:ln>
        </p:spPr>
      </p:pic>
      <p:sp>
        <p:nvSpPr>
          <p:cNvPr id="53"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54"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 0"/>
          <p:cNvSpPr/>
          <p:nvPr/>
        </p:nvSpPr>
        <p:spPr>
          <a:xfrm>
            <a:off x="4105080" y="1075680"/>
            <a:ext cx="4468320" cy="442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noAutofit/>
          </a:bodyPr>
          <a:lstStyle/>
          <a:p>
            <a:pPr algn="ctr">
              <a:lnSpc>
                <a:spcPct val="104000"/>
              </a:lnSpc>
              <a:tabLst>
                <a:tab pos="0" algn="l"/>
              </a:tabLst>
            </a:pPr>
            <a:r>
              <a:rPr lang="en-US" sz="2750" b="1" u="none" strike="noStrike">
                <a:solidFill>
                  <a:srgbClr val="000000"/>
                </a:solidFill>
                <a:effectLst/>
                <a:uFillTx/>
                <a:latin typeface="Inter Bold"/>
                <a:ea typeface="Inter Bold"/>
              </a:rPr>
              <a:t>Team Fortress Defense</a:t>
            </a:r>
            <a:endParaRPr lang="en-US" sz="2750" b="0" u="none" strike="noStrike">
              <a:solidFill>
                <a:srgbClr val="000000"/>
              </a:solidFill>
              <a:effectLst/>
              <a:uFillTx/>
              <a:latin typeface="Arial"/>
            </a:endParaRPr>
          </a:p>
        </p:txBody>
      </p:sp>
      <p:sp>
        <p:nvSpPr>
          <p:cNvPr id="62" name="Text 1"/>
          <p:cNvSpPr/>
          <p:nvPr/>
        </p:nvSpPr>
        <p:spPr>
          <a:xfrm>
            <a:off x="4285080" y="1443240"/>
            <a:ext cx="4136760" cy="67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chorCtr="1">
            <a:normAutofit/>
          </a:bodyPr>
          <a:lstStyle/>
          <a:p>
            <a:pPr algn="ctr">
              <a:lnSpc>
                <a:spcPct val="133000"/>
              </a:lnSpc>
              <a:tabLst>
                <a:tab pos="0" algn="l"/>
              </a:tabLst>
            </a:pPr>
            <a:r>
              <a:rPr lang="en-US" sz="1100" b="0" u="none" strike="noStrike">
                <a:solidFill>
                  <a:srgbClr val="272525"/>
                </a:solidFill>
                <a:effectLst/>
                <a:uFillTx/>
                <a:latin typeface="Inter"/>
                <a:ea typeface="Inter"/>
              </a:rPr>
              <a:t>A 2D side-scroller survival mobile game</a:t>
            </a:r>
            <a:endParaRPr lang="en-US" sz="1100" b="0" u="none" strike="noStrike">
              <a:solidFill>
                <a:srgbClr val="000000"/>
              </a:solidFill>
              <a:effectLst/>
              <a:uFillTx/>
              <a:latin typeface="Arial"/>
            </a:endParaRPr>
          </a:p>
        </p:txBody>
      </p:sp>
      <p:sp>
        <p:nvSpPr>
          <p:cNvPr id="63" name="Text 5"/>
          <p:cNvSpPr/>
          <p:nvPr/>
        </p:nvSpPr>
        <p:spPr>
          <a:xfrm>
            <a:off x="4393080" y="3731760"/>
            <a:ext cx="232452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000000"/>
                </a:solidFill>
                <a:effectLst/>
                <a:uFillTx/>
                <a:latin typeface="Inter Bold"/>
                <a:ea typeface="Inter Bold"/>
              </a:rPr>
              <a:t>Group Members:</a:t>
            </a:r>
            <a:endParaRPr lang="en-US" sz="1350" b="0" u="none" strike="noStrike">
              <a:solidFill>
                <a:srgbClr val="000000"/>
              </a:solidFill>
              <a:effectLst/>
              <a:uFillTx/>
              <a:latin typeface="Arial"/>
            </a:endParaRPr>
          </a:p>
        </p:txBody>
      </p:sp>
      <p:sp>
        <p:nvSpPr>
          <p:cNvPr id="64" name="Text 6"/>
          <p:cNvSpPr/>
          <p:nvPr/>
        </p:nvSpPr>
        <p:spPr>
          <a:xfrm>
            <a:off x="4827960" y="4082040"/>
            <a:ext cx="2897280" cy="88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a:lnSpc>
                <a:spcPct val="104000"/>
              </a:lnSpc>
              <a:tabLst>
                <a:tab pos="0" algn="l"/>
              </a:tabLst>
            </a:pPr>
            <a:r>
              <a:rPr lang="en-US" sz="1350" b="1" u="none" strike="noStrike">
                <a:solidFill>
                  <a:srgbClr val="000000"/>
                </a:solidFill>
                <a:effectLst/>
                <a:uFillTx/>
                <a:latin typeface="Inter Bold"/>
                <a:ea typeface="Inter Bold"/>
              </a:rPr>
              <a:t>Hamza Imran — 15764</a:t>
            </a:r>
            <a:endParaRPr lang="en-US" sz="1350" b="0" u="none" strike="noStrike">
              <a:solidFill>
                <a:srgbClr val="000000"/>
              </a:solidFill>
              <a:effectLst/>
              <a:uFillTx/>
              <a:latin typeface="Arial"/>
            </a:endParaRPr>
          </a:p>
          <a:p>
            <a:pPr algn="ctr">
              <a:lnSpc>
                <a:spcPct val="104000"/>
              </a:lnSpc>
              <a:tabLst>
                <a:tab pos="0" algn="l"/>
              </a:tabLst>
            </a:pPr>
            <a:r>
              <a:rPr lang="en-US" sz="1350" b="1" u="none" strike="noStrike">
                <a:solidFill>
                  <a:srgbClr val="000000"/>
                </a:solidFill>
                <a:effectLst/>
                <a:uFillTx/>
                <a:latin typeface="Inter Bold"/>
                <a:ea typeface="Inter Bold"/>
              </a:rPr>
              <a:t>Maaz Habib Khan — 65865</a:t>
            </a:r>
            <a:endParaRPr lang="en-US" sz="1350" b="0" u="none" strike="noStrike">
              <a:solidFill>
                <a:srgbClr val="000000"/>
              </a:solidFill>
              <a:effectLst/>
              <a:uFillTx/>
              <a:latin typeface="Arial"/>
            </a:endParaRPr>
          </a:p>
          <a:p>
            <a:pPr algn="ctr">
              <a:lnSpc>
                <a:spcPct val="104000"/>
              </a:lnSpc>
              <a:tabLst>
                <a:tab pos="0" algn="l"/>
              </a:tabLst>
            </a:pPr>
            <a:r>
              <a:rPr lang="en-US" sz="1350" b="1" u="none" strike="noStrike">
                <a:solidFill>
                  <a:srgbClr val="000000"/>
                </a:solidFill>
                <a:effectLst/>
                <a:uFillTx/>
                <a:latin typeface="Inter Bold"/>
                <a:ea typeface="Inter Bold"/>
              </a:rPr>
              <a:t>Asad Rehman — 65878</a:t>
            </a:r>
            <a:endParaRPr lang="en-US" sz="1350" b="0" u="none" strike="noStrike">
              <a:solidFill>
                <a:srgbClr val="000000"/>
              </a:solidFill>
              <a:effectLst/>
              <a:uFillTx/>
              <a:latin typeface="Arial"/>
            </a:endParaRPr>
          </a:p>
          <a:p>
            <a:pPr algn="ctr">
              <a:lnSpc>
                <a:spcPct val="104000"/>
              </a:lnSpc>
              <a:tabLst>
                <a:tab pos="0" algn="l"/>
              </a:tabLst>
            </a:pPr>
            <a:r>
              <a:rPr lang="en-US" sz="1350" b="1" u="none" strike="noStrike">
                <a:solidFill>
                  <a:srgbClr val="000000"/>
                </a:solidFill>
                <a:effectLst/>
                <a:uFillTx/>
                <a:latin typeface="Inter Bold"/>
                <a:ea typeface="Inter Bold"/>
              </a:rPr>
              <a:t>Submitted TO : Miss Erum Aman</a:t>
            </a:r>
            <a:endParaRPr lang="en-US" sz="1350" b="0" u="none" strike="noStrike">
              <a:solidFill>
                <a:srgbClr val="000000"/>
              </a:solidFill>
              <a:effectLst/>
              <a:uFillTx/>
              <a:latin typeface="Arial"/>
            </a:endParaRPr>
          </a:p>
        </p:txBody>
      </p:sp>
      <p:sp>
        <p:nvSpPr>
          <p:cNvPr id="65" name="Rectangle 64"/>
          <p:cNvSpPr/>
          <p:nvPr/>
        </p:nvSpPr>
        <p:spPr>
          <a:xfrm>
            <a:off x="8001000" y="480060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66" name="Picture 65"/>
          <p:cNvPicPr/>
          <p:nvPr/>
        </p:nvPicPr>
        <p:blipFill>
          <a:blip r:embed="rId3"/>
          <a:stretch/>
        </p:blipFill>
        <p:spPr>
          <a:xfrm>
            <a:off x="359640" y="360"/>
            <a:ext cx="2840400" cy="5142960"/>
          </a:xfrm>
          <a:prstGeom prst="rect">
            <a:avLst/>
          </a:prstGeom>
          <a:noFill/>
          <a:ln w="0">
            <a:noFill/>
          </a:ln>
        </p:spPr>
      </p:pic>
      <p:sp>
        <p:nvSpPr>
          <p:cNvPr id="67" name="Rectangle 66"/>
          <p:cNvSpPr/>
          <p:nvPr/>
        </p:nvSpPr>
        <p:spPr>
          <a:xfrm>
            <a:off x="4585680" y="1828800"/>
            <a:ext cx="3381840" cy="1600200"/>
          </a:xfrm>
          <a:prstGeom prst="rect">
            <a:avLst/>
          </a:prstGeom>
          <a:blipFill>
            <a:blip r:embed="rId4"/>
            <a:stretch>
              <a:fillRect/>
            </a:stretch>
          </a:blip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endParaRPr lang="en-US" sz="18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 0"/>
          <p:cNvSpPr/>
          <p:nvPr/>
        </p:nvSpPr>
        <p:spPr>
          <a:xfrm>
            <a:off x="496080" y="1179000"/>
            <a:ext cx="3291840" cy="353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200" b="1" u="none" strike="noStrike">
                <a:solidFill>
                  <a:srgbClr val="000000"/>
                </a:solidFill>
                <a:effectLst/>
                <a:uFillTx/>
                <a:latin typeface="Inter Bold"/>
                <a:ea typeface="Inter Bold"/>
              </a:rPr>
              <a:t>Project Overview</a:t>
            </a:r>
            <a:endParaRPr lang="en-US" sz="2200" b="0" u="none" strike="noStrike">
              <a:solidFill>
                <a:srgbClr val="000000"/>
              </a:solidFill>
              <a:effectLst/>
              <a:uFillTx/>
              <a:latin typeface="Arial"/>
            </a:endParaRPr>
          </a:p>
        </p:txBody>
      </p:sp>
      <p:sp>
        <p:nvSpPr>
          <p:cNvPr id="69" name="Text 1"/>
          <p:cNvSpPr/>
          <p:nvPr/>
        </p:nvSpPr>
        <p:spPr>
          <a:xfrm>
            <a:off x="3899880" y="1945440"/>
            <a:ext cx="4752000" cy="113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Our project is a 2D side-scroller built on open source game engine unity. The game lets user face hordes of zombies by their trusty bat and plants allies. The user have to use offensive tactics while maintaining their defense. </a:t>
            </a:r>
            <a:endParaRPr lang="en-US" sz="1100" b="0" u="none" strike="noStrike">
              <a:solidFill>
                <a:srgbClr val="000000"/>
              </a:solidFill>
              <a:effectLst/>
              <a:uFillTx/>
              <a:latin typeface="Arial"/>
            </a:endParaRPr>
          </a:p>
        </p:txBody>
      </p:sp>
      <p:sp>
        <p:nvSpPr>
          <p:cNvPr id="70" name="Text 2"/>
          <p:cNvSpPr/>
          <p:nvPr/>
        </p:nvSpPr>
        <p:spPr>
          <a:xfrm>
            <a:off x="3899880" y="3135240"/>
            <a:ext cx="4752000" cy="77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Platform: Mobile (Unity)</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Genre: Action + Survival (Hybrid)</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Primary audience: Mobile players</a:t>
            </a:r>
            <a:endParaRPr lang="en-US" sz="1100" b="0" u="none" strike="noStrike">
              <a:solidFill>
                <a:srgbClr val="000000"/>
              </a:solidFill>
              <a:effectLst/>
              <a:uFillTx/>
              <a:latin typeface="Arial"/>
            </a:endParaRPr>
          </a:p>
        </p:txBody>
      </p:sp>
      <p:sp>
        <p:nvSpPr>
          <p:cNvPr id="71" name="Rectangle 70"/>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72" name="Rectangle 71"/>
          <p:cNvSpPr/>
          <p:nvPr/>
        </p:nvSpPr>
        <p:spPr>
          <a:xfrm>
            <a:off x="457200" y="2057400"/>
            <a:ext cx="2743200" cy="1600200"/>
          </a:xfrm>
          <a:prstGeom prst="rect">
            <a:avLst/>
          </a:prstGeom>
          <a:blipFill>
            <a:blip r:embed="rId3"/>
            <a:stretch>
              <a:fillRect/>
            </a:stretch>
          </a:blip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endParaRPr lang="en-US" sz="18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 0"/>
          <p:cNvSpPr/>
          <p:nvPr/>
        </p:nvSpPr>
        <p:spPr>
          <a:xfrm>
            <a:off x="496080" y="1607760"/>
            <a:ext cx="3291840" cy="353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200" b="1" u="none" strike="noStrike">
                <a:solidFill>
                  <a:srgbClr val="000000"/>
                </a:solidFill>
                <a:effectLst/>
                <a:uFillTx/>
                <a:latin typeface="Inter Bold"/>
                <a:ea typeface="Inter Bold"/>
              </a:rPr>
              <a:t>Why this ?</a:t>
            </a:r>
            <a:endParaRPr lang="en-US" sz="2200" b="0" u="none" strike="noStrike">
              <a:solidFill>
                <a:srgbClr val="000000"/>
              </a:solidFill>
              <a:effectLst/>
              <a:uFillTx/>
              <a:latin typeface="Arial"/>
            </a:endParaRPr>
          </a:p>
        </p:txBody>
      </p:sp>
      <p:sp>
        <p:nvSpPr>
          <p:cNvPr id="74" name="Text 1"/>
          <p:cNvSpPr/>
          <p:nvPr/>
        </p:nvSpPr>
        <p:spPr>
          <a:xfrm>
            <a:off x="496080" y="2174760"/>
            <a:ext cx="4722120" cy="136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At one point most of us have played Plants vs Zombie once and the thing that always bothered me was that it was static. You get new plants but we just have to place them the same place and let them do the work. </a:t>
            </a:r>
            <a:endParaRPr lang="en-US" sz="1100" b="0" u="none" strike="noStrike">
              <a:solidFill>
                <a:srgbClr val="000000"/>
              </a:solidFill>
              <a:effectLst/>
              <a:uFillTx/>
              <a:latin typeface="Arial"/>
            </a:endParaRPr>
          </a:p>
          <a:p>
            <a:pPr>
              <a:lnSpc>
                <a:spcPct val="133000"/>
              </a:lnSpc>
              <a:tabLst>
                <a:tab pos="0" algn="l"/>
              </a:tabLst>
            </a:pPr>
            <a:r>
              <a:rPr lang="en-US" sz="1100" b="0" u="none" strike="noStrike">
                <a:solidFill>
                  <a:srgbClr val="272525"/>
                </a:solidFill>
                <a:effectLst/>
                <a:uFillTx/>
                <a:latin typeface="Inter"/>
                <a:ea typeface="Inter"/>
              </a:rPr>
              <a:t>	So we had an idea to add a new character which give us freedom to move while demolishing those zombies.</a:t>
            </a:r>
            <a:endParaRPr lang="en-US" sz="1100" b="0" u="none" strike="noStrike">
              <a:solidFill>
                <a:srgbClr val="000000"/>
              </a:solidFill>
              <a:effectLst/>
              <a:uFillTx/>
              <a:latin typeface="Arial"/>
            </a:endParaRPr>
          </a:p>
        </p:txBody>
      </p:sp>
      <p:sp>
        <p:nvSpPr>
          <p:cNvPr id="75" name="Rectangle 74"/>
          <p:cNvSpPr/>
          <p:nvPr/>
        </p:nvSpPr>
        <p:spPr>
          <a:xfrm>
            <a:off x="8001720" y="480132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76" name="Picture 75"/>
          <p:cNvPicPr/>
          <p:nvPr/>
        </p:nvPicPr>
        <p:blipFill>
          <a:blip r:embed="rId3"/>
          <a:stretch/>
        </p:blipFill>
        <p:spPr>
          <a:xfrm>
            <a:off x="5330160" y="1143000"/>
            <a:ext cx="3656880" cy="274284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0"/>
          <p:cNvSpPr/>
          <p:nvPr/>
        </p:nvSpPr>
        <p:spPr>
          <a:xfrm>
            <a:off x="496080" y="1015200"/>
            <a:ext cx="3291840" cy="353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200" b="1" u="none" strike="noStrike">
                <a:solidFill>
                  <a:srgbClr val="000000"/>
                </a:solidFill>
                <a:effectLst/>
                <a:uFillTx/>
                <a:latin typeface="Inter Bold"/>
                <a:ea typeface="Inter Bold"/>
              </a:rPr>
              <a:t>Objectives</a:t>
            </a:r>
            <a:endParaRPr lang="en-US" sz="2200" b="0" u="none" strike="noStrike">
              <a:solidFill>
                <a:srgbClr val="000000"/>
              </a:solidFill>
              <a:effectLst/>
              <a:uFillTx/>
              <a:latin typeface="Arial"/>
            </a:endParaRPr>
          </a:p>
        </p:txBody>
      </p:sp>
      <p:sp>
        <p:nvSpPr>
          <p:cNvPr id="78" name="Shape 1"/>
          <p:cNvSpPr/>
          <p:nvPr/>
        </p:nvSpPr>
        <p:spPr>
          <a:xfrm>
            <a:off x="496080" y="1653120"/>
            <a:ext cx="2621880" cy="1279440"/>
          </a:xfrm>
          <a:prstGeom prst="roundRect">
            <a:avLst>
              <a:gd name="adj" fmla="val 4652"/>
            </a:avLst>
          </a:prstGeom>
          <a:solidFill>
            <a:srgbClr val="DADBF1"/>
          </a:solidFill>
          <a:ln w="4763">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2"/>
          <p:cNvSpPr/>
          <p:nvPr/>
        </p:nvSpPr>
        <p:spPr>
          <a:xfrm>
            <a:off x="642600" y="1799640"/>
            <a:ext cx="224172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Responsive Controls</a:t>
            </a:r>
            <a:endParaRPr lang="en-US" sz="1350" b="0" u="none" strike="noStrike">
              <a:solidFill>
                <a:srgbClr val="000000"/>
              </a:solidFill>
              <a:effectLst/>
              <a:uFillTx/>
              <a:latin typeface="Arial"/>
            </a:endParaRPr>
          </a:p>
        </p:txBody>
      </p:sp>
      <p:sp>
        <p:nvSpPr>
          <p:cNvPr id="80" name="Text 3"/>
          <p:cNvSpPr/>
          <p:nvPr/>
        </p:nvSpPr>
        <p:spPr>
          <a:xfrm>
            <a:off x="642600" y="2106360"/>
            <a:ext cx="2328840" cy="67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Polished on-screen controls for movement and attacks optimized for touch input.</a:t>
            </a:r>
            <a:endParaRPr lang="en-US" sz="1100" b="0" u="none" strike="noStrike">
              <a:solidFill>
                <a:srgbClr val="000000"/>
              </a:solidFill>
              <a:effectLst/>
              <a:uFillTx/>
              <a:latin typeface="Arial"/>
            </a:endParaRPr>
          </a:p>
        </p:txBody>
      </p:sp>
      <p:sp>
        <p:nvSpPr>
          <p:cNvPr id="81" name="Shape 4"/>
          <p:cNvSpPr/>
          <p:nvPr/>
        </p:nvSpPr>
        <p:spPr>
          <a:xfrm>
            <a:off x="3260520" y="1653120"/>
            <a:ext cx="2621880" cy="1279440"/>
          </a:xfrm>
          <a:prstGeom prst="roundRect">
            <a:avLst>
              <a:gd name="adj" fmla="val 4652"/>
            </a:avLst>
          </a:prstGeom>
          <a:solidFill>
            <a:srgbClr val="DADBF1"/>
          </a:solidFill>
          <a:ln w="4763">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5"/>
          <p:cNvSpPr/>
          <p:nvPr/>
        </p:nvSpPr>
        <p:spPr>
          <a:xfrm>
            <a:off x="3407040" y="179964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Wave Spawning</a:t>
            </a:r>
            <a:endParaRPr lang="en-US" sz="1350" b="0" u="none" strike="noStrike">
              <a:solidFill>
                <a:srgbClr val="000000"/>
              </a:solidFill>
              <a:effectLst/>
              <a:uFillTx/>
              <a:latin typeface="Arial"/>
            </a:endParaRPr>
          </a:p>
        </p:txBody>
      </p:sp>
      <p:sp>
        <p:nvSpPr>
          <p:cNvPr id="83" name="Text 6"/>
          <p:cNvSpPr/>
          <p:nvPr/>
        </p:nvSpPr>
        <p:spPr>
          <a:xfrm>
            <a:off x="3407040" y="2106360"/>
            <a:ext cx="2328840" cy="67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Scalable, wave-based enemy system with progressive difficulty tuning.</a:t>
            </a:r>
            <a:endParaRPr lang="en-US" sz="1100" b="0" u="none" strike="noStrike">
              <a:solidFill>
                <a:srgbClr val="000000"/>
              </a:solidFill>
              <a:effectLst/>
              <a:uFillTx/>
              <a:latin typeface="Arial"/>
            </a:endParaRPr>
          </a:p>
        </p:txBody>
      </p:sp>
      <p:sp>
        <p:nvSpPr>
          <p:cNvPr id="84" name="Shape 7"/>
          <p:cNvSpPr/>
          <p:nvPr/>
        </p:nvSpPr>
        <p:spPr>
          <a:xfrm>
            <a:off x="6024960" y="1653120"/>
            <a:ext cx="2621880" cy="1279440"/>
          </a:xfrm>
          <a:prstGeom prst="roundRect">
            <a:avLst>
              <a:gd name="adj" fmla="val 4652"/>
            </a:avLst>
          </a:prstGeom>
          <a:solidFill>
            <a:srgbClr val="DADBF1"/>
          </a:solidFill>
          <a:ln w="4763">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8"/>
          <p:cNvSpPr/>
          <p:nvPr/>
        </p:nvSpPr>
        <p:spPr>
          <a:xfrm>
            <a:off x="6171480" y="179964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Hero Mechanic</a:t>
            </a:r>
            <a:endParaRPr lang="en-US" sz="1350" b="0" u="none" strike="noStrike">
              <a:solidFill>
                <a:srgbClr val="000000"/>
              </a:solidFill>
              <a:effectLst/>
              <a:uFillTx/>
              <a:latin typeface="Arial"/>
            </a:endParaRPr>
          </a:p>
        </p:txBody>
      </p:sp>
      <p:sp>
        <p:nvSpPr>
          <p:cNvPr id="86" name="Text 9"/>
          <p:cNvSpPr/>
          <p:nvPr/>
        </p:nvSpPr>
        <p:spPr>
          <a:xfrm>
            <a:off x="6171480" y="2106360"/>
            <a:ext cx="2328840" cy="45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High-impact playable character with upgraded stats and abilities.</a:t>
            </a:r>
            <a:endParaRPr lang="en-US" sz="1100" b="0" u="none" strike="noStrike">
              <a:solidFill>
                <a:srgbClr val="000000"/>
              </a:solidFill>
              <a:effectLst/>
              <a:uFillTx/>
              <a:latin typeface="Arial"/>
            </a:endParaRPr>
          </a:p>
        </p:txBody>
      </p:sp>
      <p:sp>
        <p:nvSpPr>
          <p:cNvPr id="87" name="Shape 10"/>
          <p:cNvSpPr/>
          <p:nvPr/>
        </p:nvSpPr>
        <p:spPr>
          <a:xfrm>
            <a:off x="496080" y="3074760"/>
            <a:ext cx="4004280" cy="1052640"/>
          </a:xfrm>
          <a:prstGeom prst="roundRect">
            <a:avLst>
              <a:gd name="adj" fmla="val 5654"/>
            </a:avLst>
          </a:prstGeom>
          <a:solidFill>
            <a:srgbClr val="DADBF1"/>
          </a:solidFill>
          <a:ln w="4763">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1"/>
          <p:cNvSpPr/>
          <p:nvPr/>
        </p:nvSpPr>
        <p:spPr>
          <a:xfrm>
            <a:off x="642600" y="322128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Pleasing UI &amp; UX</a:t>
            </a:r>
            <a:endParaRPr lang="en-US" sz="1350" b="0" u="none" strike="noStrike">
              <a:solidFill>
                <a:srgbClr val="000000"/>
              </a:solidFill>
              <a:effectLst/>
              <a:uFillTx/>
              <a:latin typeface="Arial"/>
            </a:endParaRPr>
          </a:p>
        </p:txBody>
      </p:sp>
      <p:sp>
        <p:nvSpPr>
          <p:cNvPr id="89" name="Text 12"/>
          <p:cNvSpPr/>
          <p:nvPr/>
        </p:nvSpPr>
        <p:spPr>
          <a:xfrm>
            <a:off x="642600" y="3528000"/>
            <a:ext cx="3711240" cy="45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User friendly and theme based UI, UX making user feel more immersed.</a:t>
            </a:r>
            <a:endParaRPr lang="en-US" sz="1100" b="0" u="none" strike="noStrike">
              <a:solidFill>
                <a:srgbClr val="000000"/>
              </a:solidFill>
              <a:effectLst/>
              <a:uFillTx/>
              <a:latin typeface="Arial"/>
            </a:endParaRPr>
          </a:p>
        </p:txBody>
      </p:sp>
      <p:sp>
        <p:nvSpPr>
          <p:cNvPr id="90" name="Shape 13"/>
          <p:cNvSpPr/>
          <p:nvPr/>
        </p:nvSpPr>
        <p:spPr>
          <a:xfrm>
            <a:off x="4642920" y="3074760"/>
            <a:ext cx="4004280" cy="1052640"/>
          </a:xfrm>
          <a:prstGeom prst="roundRect">
            <a:avLst>
              <a:gd name="adj" fmla="val 5654"/>
            </a:avLst>
          </a:prstGeom>
          <a:solidFill>
            <a:srgbClr val="DADBF1"/>
          </a:solidFill>
          <a:ln w="4763">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14"/>
          <p:cNvSpPr/>
          <p:nvPr/>
        </p:nvSpPr>
        <p:spPr>
          <a:xfrm>
            <a:off x="4789440" y="322128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Mobile Performance</a:t>
            </a:r>
            <a:endParaRPr lang="en-US" sz="1350" b="0" u="none" strike="noStrike">
              <a:solidFill>
                <a:srgbClr val="000000"/>
              </a:solidFill>
              <a:effectLst/>
              <a:uFillTx/>
              <a:latin typeface="Arial"/>
            </a:endParaRPr>
          </a:p>
        </p:txBody>
      </p:sp>
      <p:sp>
        <p:nvSpPr>
          <p:cNvPr id="92" name="Text 15"/>
          <p:cNvSpPr/>
          <p:nvPr/>
        </p:nvSpPr>
        <p:spPr>
          <a:xfrm>
            <a:off x="4789440" y="3528000"/>
            <a:ext cx="3711240" cy="45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Unity optimizations to maintain stable frame-rates across typical devices.</a:t>
            </a:r>
            <a:endParaRPr lang="en-US" sz="1100" b="0" u="none" strike="noStrike">
              <a:solidFill>
                <a:srgbClr val="000000"/>
              </a:solidFill>
              <a:effectLst/>
              <a:uFillTx/>
              <a:latin typeface="Arial"/>
            </a:endParaRPr>
          </a:p>
        </p:txBody>
      </p:sp>
      <p:sp>
        <p:nvSpPr>
          <p:cNvPr id="93" name="Rectangle 92"/>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 0"/>
          <p:cNvSpPr/>
          <p:nvPr/>
        </p:nvSpPr>
        <p:spPr>
          <a:xfrm>
            <a:off x="496080" y="465840"/>
            <a:ext cx="3462120" cy="353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200" b="1" u="none" strike="noStrike">
                <a:solidFill>
                  <a:srgbClr val="000000"/>
                </a:solidFill>
                <a:effectLst/>
                <a:uFillTx/>
                <a:latin typeface="Inter Bold"/>
                <a:ea typeface="Inter Bold"/>
              </a:rPr>
              <a:t>System Users &amp; Roles</a:t>
            </a:r>
            <a:endParaRPr lang="en-US" sz="2200" b="0" u="none" strike="noStrike">
              <a:solidFill>
                <a:srgbClr val="000000"/>
              </a:solidFill>
              <a:effectLst/>
              <a:uFillTx/>
              <a:latin typeface="Arial"/>
            </a:endParaRPr>
          </a:p>
        </p:txBody>
      </p:sp>
      <p:sp>
        <p:nvSpPr>
          <p:cNvPr id="95" name="Shape 1"/>
          <p:cNvSpPr/>
          <p:nvPr/>
        </p:nvSpPr>
        <p:spPr>
          <a:xfrm>
            <a:off x="6024240" y="1192320"/>
            <a:ext cx="2627640" cy="1591200"/>
          </a:xfrm>
          <a:prstGeom prst="roundRect">
            <a:avLst>
              <a:gd name="adj" fmla="val 3740"/>
            </a:avLst>
          </a:prstGeom>
          <a:solidFill>
            <a:srgbClr val="FFFFFF"/>
          </a:solidFill>
          <a:ln w="19050">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 name="Text 2"/>
          <p:cNvSpPr/>
          <p:nvPr/>
        </p:nvSpPr>
        <p:spPr>
          <a:xfrm>
            <a:off x="6185160" y="135324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Player (Primary)</a:t>
            </a:r>
            <a:endParaRPr lang="en-US" sz="1350" b="0" u="none" strike="noStrike">
              <a:solidFill>
                <a:srgbClr val="000000"/>
              </a:solidFill>
              <a:effectLst/>
              <a:uFillTx/>
              <a:latin typeface="Arial"/>
            </a:endParaRPr>
          </a:p>
        </p:txBody>
      </p:sp>
      <p:sp>
        <p:nvSpPr>
          <p:cNvPr id="97" name="Text 3"/>
          <p:cNvSpPr/>
          <p:nvPr/>
        </p:nvSpPr>
        <p:spPr>
          <a:xfrm>
            <a:off x="6185160" y="1716120"/>
            <a:ext cx="2305800" cy="90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Controls Hero movement/attacks, manages currency to summon backups, and monitors tower health to survive waves.</a:t>
            </a:r>
            <a:endParaRPr lang="en-US" sz="1100" b="0" u="none" strike="noStrike">
              <a:solidFill>
                <a:srgbClr val="000000"/>
              </a:solidFill>
              <a:effectLst/>
              <a:uFillTx/>
              <a:latin typeface="Arial"/>
            </a:endParaRPr>
          </a:p>
        </p:txBody>
      </p:sp>
      <p:sp>
        <p:nvSpPr>
          <p:cNvPr id="98" name="Shape 4"/>
          <p:cNvSpPr/>
          <p:nvPr/>
        </p:nvSpPr>
        <p:spPr>
          <a:xfrm>
            <a:off x="6024240" y="2926080"/>
            <a:ext cx="2627640" cy="1591200"/>
          </a:xfrm>
          <a:prstGeom prst="roundRect">
            <a:avLst>
              <a:gd name="adj" fmla="val 3740"/>
            </a:avLst>
          </a:prstGeom>
          <a:solidFill>
            <a:srgbClr val="FFFFFF"/>
          </a:solidFill>
          <a:ln w="19050">
            <a:solidFill>
              <a:srgbClr val="C0C1D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 name="Text 5"/>
          <p:cNvSpPr/>
          <p:nvPr/>
        </p:nvSpPr>
        <p:spPr>
          <a:xfrm>
            <a:off x="6185160" y="308700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272525"/>
                </a:solidFill>
                <a:effectLst/>
                <a:uFillTx/>
                <a:latin typeface="Inter Bold"/>
                <a:ea typeface="Inter Bold"/>
              </a:rPr>
              <a:t>Admin / Dev Team</a:t>
            </a:r>
            <a:endParaRPr lang="en-US" sz="1350" b="0" u="none" strike="noStrike">
              <a:solidFill>
                <a:srgbClr val="000000"/>
              </a:solidFill>
              <a:effectLst/>
              <a:uFillTx/>
              <a:latin typeface="Arial"/>
            </a:endParaRPr>
          </a:p>
        </p:txBody>
      </p:sp>
      <p:sp>
        <p:nvSpPr>
          <p:cNvPr id="100" name="Text 6"/>
          <p:cNvSpPr/>
          <p:nvPr/>
        </p:nvSpPr>
        <p:spPr>
          <a:xfrm>
            <a:off x="6185160" y="3450240"/>
            <a:ext cx="2305800" cy="90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Tune balance (enemy stats, unit costs), monitor telemetry (performance, high scores), iterate on difficulty curves.</a:t>
            </a:r>
            <a:endParaRPr lang="en-US" sz="1100" b="0" u="none" strike="noStrike">
              <a:solidFill>
                <a:srgbClr val="000000"/>
              </a:solidFill>
              <a:effectLst/>
              <a:uFillTx/>
              <a:latin typeface="Arial"/>
            </a:endParaRPr>
          </a:p>
        </p:txBody>
      </p:sp>
      <p:sp>
        <p:nvSpPr>
          <p:cNvPr id="101" name="Rectangle 100"/>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02" name="Picture 101"/>
          <p:cNvPicPr/>
          <p:nvPr/>
        </p:nvPicPr>
        <p:blipFill>
          <a:blip r:embed="rId3"/>
          <a:stretch/>
        </p:blipFill>
        <p:spPr>
          <a:xfrm>
            <a:off x="470160" y="1443960"/>
            <a:ext cx="5250240" cy="286344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 27"/>
          <p:cNvSpPr/>
          <p:nvPr/>
        </p:nvSpPr>
        <p:spPr>
          <a:xfrm>
            <a:off x="903600" y="332640"/>
            <a:ext cx="3589560" cy="264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650" b="1" u="none" strike="noStrike">
                <a:solidFill>
                  <a:srgbClr val="000000"/>
                </a:solidFill>
                <a:effectLst/>
                <a:uFillTx/>
                <a:latin typeface="Inter Bold"/>
                <a:ea typeface="Inter Bold"/>
              </a:rPr>
              <a:t>Technical Plan &amp; Methodology</a:t>
            </a:r>
            <a:endParaRPr lang="en-US" sz="1650" b="0" u="none" strike="noStrike">
              <a:solidFill>
                <a:srgbClr val="000000"/>
              </a:solidFill>
              <a:effectLst/>
              <a:uFillTx/>
              <a:latin typeface="Arial"/>
            </a:endParaRPr>
          </a:p>
        </p:txBody>
      </p:sp>
      <p:sp>
        <p:nvSpPr>
          <p:cNvPr id="104" name="Text 28"/>
          <p:cNvSpPr/>
          <p:nvPr/>
        </p:nvSpPr>
        <p:spPr>
          <a:xfrm>
            <a:off x="903600" y="789840"/>
            <a:ext cx="3537720" cy="44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17000"/>
              </a:lnSpc>
              <a:tabLst>
                <a:tab pos="0" algn="l"/>
              </a:tabLst>
            </a:pPr>
            <a:r>
              <a:rPr lang="en-US" sz="800" b="0" u="none" strike="noStrike">
                <a:solidFill>
                  <a:srgbClr val="272525"/>
                </a:solidFill>
                <a:effectLst/>
                <a:uFillTx/>
                <a:latin typeface="Inter"/>
                <a:ea typeface="Inter"/>
              </a:rPr>
              <a:t>Development is split into iterative milestones: requirements, prototyping, asset integration, gameplay programming, testing, and polish. We follow an agile cycle with playtest-driven balancing.</a:t>
            </a:r>
            <a:endParaRPr lang="en-US" sz="800" b="0" u="none" strike="noStrike">
              <a:solidFill>
                <a:srgbClr val="000000"/>
              </a:solidFill>
              <a:effectLst/>
              <a:uFillTx/>
              <a:latin typeface="Arial"/>
            </a:endParaRPr>
          </a:p>
        </p:txBody>
      </p:sp>
      <p:sp>
        <p:nvSpPr>
          <p:cNvPr id="105" name="Text 29"/>
          <p:cNvSpPr/>
          <p:nvPr/>
        </p:nvSpPr>
        <p:spPr>
          <a:xfrm>
            <a:off x="903600" y="1307880"/>
            <a:ext cx="3537720" cy="67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343080" indent="-343080">
              <a:lnSpc>
                <a:spcPct val="117000"/>
              </a:lnSpc>
              <a:buClr>
                <a:srgbClr val="272525"/>
              </a:buClr>
              <a:buFont typeface="Symbol" charset="2"/>
              <a:buChar char=""/>
            </a:pPr>
            <a:r>
              <a:rPr lang="en-US" sz="800" b="0" u="none" strike="noStrike">
                <a:solidFill>
                  <a:srgbClr val="272525"/>
                </a:solidFill>
                <a:effectLst/>
                <a:uFillTx/>
                <a:latin typeface="Inter"/>
                <a:ea typeface="Inter"/>
              </a:rPr>
              <a:t>Requirement analysis → define stats &amp; wave tables</a:t>
            </a:r>
            <a:endParaRPr lang="en-US" sz="800" b="0" u="none" strike="noStrike">
              <a:solidFill>
                <a:srgbClr val="000000"/>
              </a:solidFill>
              <a:effectLst/>
              <a:uFillTx/>
              <a:latin typeface="Arial"/>
            </a:endParaRPr>
          </a:p>
          <a:p>
            <a:pPr marL="343080" indent="-343080">
              <a:lnSpc>
                <a:spcPct val="117000"/>
              </a:lnSpc>
              <a:buClr>
                <a:srgbClr val="272525"/>
              </a:buClr>
              <a:buFont typeface="Symbol" charset="2"/>
              <a:buChar char=""/>
            </a:pPr>
            <a:r>
              <a:rPr lang="en-US" sz="800" b="0" u="none" strike="noStrike">
                <a:solidFill>
                  <a:srgbClr val="272525"/>
                </a:solidFill>
                <a:effectLst/>
                <a:uFillTx/>
                <a:latin typeface="Inter"/>
                <a:ea typeface="Inter"/>
              </a:rPr>
              <a:t>Asset pipeline → import 2D sprites &amp; environment tiles</a:t>
            </a:r>
            <a:endParaRPr lang="en-US" sz="800" b="0" u="none" strike="noStrike">
              <a:solidFill>
                <a:srgbClr val="000000"/>
              </a:solidFill>
              <a:effectLst/>
              <a:uFillTx/>
              <a:latin typeface="Arial"/>
            </a:endParaRPr>
          </a:p>
          <a:p>
            <a:pPr marL="343080" indent="-343080">
              <a:lnSpc>
                <a:spcPct val="117000"/>
              </a:lnSpc>
              <a:buClr>
                <a:srgbClr val="272525"/>
              </a:buClr>
              <a:buFont typeface="Symbol" charset="2"/>
              <a:buChar char=""/>
            </a:pPr>
            <a:r>
              <a:rPr lang="en-US" sz="800" b="0" u="none" strike="noStrike">
                <a:solidFill>
                  <a:srgbClr val="272525"/>
                </a:solidFill>
                <a:effectLst/>
                <a:uFillTx/>
                <a:latin typeface="Inter"/>
                <a:ea typeface="Inter"/>
              </a:rPr>
              <a:t>C# scripting in Unity → movement, AI, spawn manager, UI</a:t>
            </a:r>
            <a:endParaRPr lang="en-US" sz="800" b="0" u="none" strike="noStrike">
              <a:solidFill>
                <a:srgbClr val="000000"/>
              </a:solidFill>
              <a:effectLst/>
              <a:uFillTx/>
              <a:latin typeface="Arial"/>
            </a:endParaRPr>
          </a:p>
          <a:p>
            <a:pPr marL="343080" indent="-343080">
              <a:lnSpc>
                <a:spcPct val="117000"/>
              </a:lnSpc>
              <a:buClr>
                <a:srgbClr val="272525"/>
              </a:buClr>
              <a:buFont typeface="Symbol" charset="2"/>
              <a:buChar char=""/>
            </a:pPr>
            <a:r>
              <a:rPr lang="en-US" sz="800" b="0" u="none" strike="noStrike">
                <a:solidFill>
                  <a:srgbClr val="272525"/>
                </a:solidFill>
                <a:effectLst/>
                <a:uFillTx/>
                <a:latin typeface="Inter"/>
                <a:ea typeface="Inter"/>
              </a:rPr>
              <a:t>Testing → performance, balance, touch ergonomics</a:t>
            </a:r>
            <a:endParaRPr lang="en-US" sz="800" b="0" u="none" strike="noStrike">
              <a:solidFill>
                <a:srgbClr val="000000"/>
              </a:solidFill>
              <a:effectLst/>
              <a:uFillTx/>
              <a:latin typeface="Arial"/>
            </a:endParaRPr>
          </a:p>
        </p:txBody>
      </p:sp>
      <p:sp>
        <p:nvSpPr>
          <p:cNvPr id="106" name="Text 30"/>
          <p:cNvSpPr/>
          <p:nvPr/>
        </p:nvSpPr>
        <p:spPr>
          <a:xfrm>
            <a:off x="4706280" y="797760"/>
            <a:ext cx="1785600" cy="165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000" b="1" u="none" strike="noStrike">
                <a:solidFill>
                  <a:srgbClr val="000000"/>
                </a:solidFill>
                <a:effectLst/>
                <a:uFillTx/>
                <a:latin typeface="Inter Bold"/>
                <a:ea typeface="Inter Bold"/>
              </a:rPr>
              <a:t>Tools &amp; Tech</a:t>
            </a:r>
            <a:endParaRPr lang="en-US" sz="1000" b="0" u="none" strike="noStrike">
              <a:solidFill>
                <a:srgbClr val="000000"/>
              </a:solidFill>
              <a:effectLst/>
              <a:uFillTx/>
              <a:latin typeface="Arial"/>
            </a:endParaRPr>
          </a:p>
        </p:txBody>
      </p:sp>
      <p:pic>
        <p:nvPicPr>
          <p:cNvPr id="107" name="Image 8" descr="preencoded.png"/>
          <p:cNvPicPr/>
          <p:nvPr/>
        </p:nvPicPr>
        <p:blipFill>
          <a:blip>
            <a:extLst>
              <a:ext uri="{96DAC541-7B7A-43D3-8B79-37D633B846F1}">
                <asvg:svgBlip xmlns:asvg="http://schemas.microsoft.com/office/drawing/2016/SVG/main" r:embed="rId3"/>
              </a:ext>
            </a:extLst>
          </a:blip>
          <a:stretch/>
        </p:blipFill>
        <p:spPr>
          <a:xfrm>
            <a:off x="4706280" y="1053720"/>
            <a:ext cx="264960" cy="264960"/>
          </a:xfrm>
          <a:prstGeom prst="rect">
            <a:avLst/>
          </a:prstGeom>
          <a:noFill/>
          <a:ln w="0">
            <a:noFill/>
          </a:ln>
        </p:spPr>
      </p:pic>
      <p:sp>
        <p:nvSpPr>
          <p:cNvPr id="108" name="Text 31"/>
          <p:cNvSpPr/>
          <p:nvPr/>
        </p:nvSpPr>
        <p:spPr>
          <a:xfrm>
            <a:off x="4706280" y="1419120"/>
            <a:ext cx="1785600" cy="165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000" b="1" u="none" strike="noStrike">
                <a:solidFill>
                  <a:srgbClr val="272525"/>
                </a:solidFill>
                <a:effectLst/>
                <a:uFillTx/>
                <a:latin typeface="Inter Bold"/>
                <a:ea typeface="Inter Bold"/>
              </a:rPr>
              <a:t>Unity</a:t>
            </a:r>
            <a:endParaRPr lang="en-US" sz="1000" b="0" u="none" strike="noStrike">
              <a:solidFill>
                <a:srgbClr val="000000"/>
              </a:solidFill>
              <a:effectLst/>
              <a:uFillTx/>
              <a:latin typeface="Arial"/>
            </a:endParaRPr>
          </a:p>
        </p:txBody>
      </p:sp>
      <p:sp>
        <p:nvSpPr>
          <p:cNvPr id="109" name="Text 32"/>
          <p:cNvSpPr/>
          <p:nvPr/>
        </p:nvSpPr>
        <p:spPr>
          <a:xfrm>
            <a:off x="4706280" y="1664640"/>
            <a:ext cx="3537720" cy="29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17000"/>
              </a:lnSpc>
              <a:tabLst>
                <a:tab pos="0" algn="l"/>
              </a:tabLst>
            </a:pPr>
            <a:r>
              <a:rPr lang="en-US" sz="800" b="0" u="none" strike="noStrike">
                <a:solidFill>
                  <a:srgbClr val="272525"/>
                </a:solidFill>
                <a:effectLst/>
                <a:uFillTx/>
                <a:latin typeface="Inter"/>
                <a:ea typeface="Inter"/>
              </a:rPr>
              <a:t>Primary engine for mobile deployment and performance optimizations.</a:t>
            </a:r>
            <a:endParaRPr lang="en-US" sz="800" b="0" u="none" strike="noStrike">
              <a:solidFill>
                <a:srgbClr val="000000"/>
              </a:solidFill>
              <a:effectLst/>
              <a:uFillTx/>
              <a:latin typeface="Arial"/>
            </a:endParaRPr>
          </a:p>
        </p:txBody>
      </p:sp>
      <p:pic>
        <p:nvPicPr>
          <p:cNvPr id="110" name="Image 9" descr="preencoded.png"/>
          <p:cNvPicPr/>
          <p:nvPr/>
        </p:nvPicPr>
        <p:blipFill>
          <a:blip>
            <a:extLst>
              <a:ext uri="{96DAC541-7B7A-43D3-8B79-37D633B846F1}">
                <asvg:svgBlip xmlns:asvg="http://schemas.microsoft.com/office/drawing/2016/SVG/main" r:embed="rId4"/>
              </a:ext>
            </a:extLst>
          </a:blip>
          <a:stretch/>
        </p:blipFill>
        <p:spPr>
          <a:xfrm>
            <a:off x="4706280" y="2121840"/>
            <a:ext cx="264960" cy="264960"/>
          </a:xfrm>
          <a:prstGeom prst="rect">
            <a:avLst/>
          </a:prstGeom>
          <a:noFill/>
          <a:ln w="0">
            <a:noFill/>
          </a:ln>
        </p:spPr>
      </p:pic>
      <p:sp>
        <p:nvSpPr>
          <p:cNvPr id="111" name="Text 33"/>
          <p:cNvSpPr/>
          <p:nvPr/>
        </p:nvSpPr>
        <p:spPr>
          <a:xfrm>
            <a:off x="4706280" y="2487240"/>
            <a:ext cx="1785600" cy="165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000" b="1" u="none" strike="noStrike">
                <a:solidFill>
                  <a:srgbClr val="272525"/>
                </a:solidFill>
                <a:effectLst/>
                <a:uFillTx/>
                <a:latin typeface="Inter Bold"/>
                <a:ea typeface="Inter Bold"/>
              </a:rPr>
              <a:t>C#</a:t>
            </a:r>
            <a:endParaRPr lang="en-US" sz="1000" b="0" u="none" strike="noStrike">
              <a:solidFill>
                <a:srgbClr val="000000"/>
              </a:solidFill>
              <a:effectLst/>
              <a:uFillTx/>
              <a:latin typeface="Arial"/>
            </a:endParaRPr>
          </a:p>
        </p:txBody>
      </p:sp>
      <p:sp>
        <p:nvSpPr>
          <p:cNvPr id="112" name="Text 34"/>
          <p:cNvSpPr/>
          <p:nvPr/>
        </p:nvSpPr>
        <p:spPr>
          <a:xfrm>
            <a:off x="4706280" y="2733120"/>
            <a:ext cx="3994920" cy="147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17000"/>
              </a:lnSpc>
              <a:tabLst>
                <a:tab pos="0" algn="l"/>
              </a:tabLst>
            </a:pPr>
            <a:r>
              <a:rPr lang="en-US" sz="800" b="0" u="none" strike="noStrike">
                <a:solidFill>
                  <a:srgbClr val="272525"/>
                </a:solidFill>
                <a:effectLst/>
                <a:uFillTx/>
                <a:latin typeface="Inter"/>
                <a:ea typeface="Inter"/>
              </a:rPr>
              <a:t>Game logic, AI, and systems scripting.</a:t>
            </a:r>
            <a:endParaRPr lang="en-US" sz="800" b="0" u="none" strike="noStrike">
              <a:solidFill>
                <a:srgbClr val="000000"/>
              </a:solidFill>
              <a:effectLst/>
              <a:uFillTx/>
              <a:latin typeface="Arial"/>
            </a:endParaRPr>
          </a:p>
        </p:txBody>
      </p:sp>
      <p:pic>
        <p:nvPicPr>
          <p:cNvPr id="113" name="Image 10" descr="preencoded.png"/>
          <p:cNvPicPr/>
          <p:nvPr/>
        </p:nvPicPr>
        <p:blipFill>
          <a:blip>
            <a:extLst>
              <a:ext uri="{96DAC541-7B7A-43D3-8B79-37D633B846F1}">
                <asvg:svgBlip xmlns:asvg="http://schemas.microsoft.com/office/drawing/2016/SVG/main" r:embed="rId5"/>
              </a:ext>
            </a:extLst>
          </a:blip>
          <a:stretch/>
        </p:blipFill>
        <p:spPr>
          <a:xfrm>
            <a:off x="4706280" y="3041280"/>
            <a:ext cx="264960" cy="264960"/>
          </a:xfrm>
          <a:prstGeom prst="rect">
            <a:avLst/>
          </a:prstGeom>
          <a:noFill/>
          <a:ln w="0">
            <a:noFill/>
          </a:ln>
        </p:spPr>
      </p:pic>
      <p:sp>
        <p:nvSpPr>
          <p:cNvPr id="114" name="Text 35"/>
          <p:cNvSpPr/>
          <p:nvPr/>
        </p:nvSpPr>
        <p:spPr>
          <a:xfrm>
            <a:off x="4706280" y="3407040"/>
            <a:ext cx="1785600" cy="165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000" b="1" u="none" strike="noStrike">
                <a:solidFill>
                  <a:srgbClr val="272525"/>
                </a:solidFill>
                <a:effectLst/>
                <a:uFillTx/>
                <a:latin typeface="Inter Bold"/>
                <a:ea typeface="Inter Bold"/>
              </a:rPr>
              <a:t>Git</a:t>
            </a:r>
            <a:endParaRPr lang="en-US" sz="1000" b="0" u="none" strike="noStrike">
              <a:solidFill>
                <a:srgbClr val="000000"/>
              </a:solidFill>
              <a:effectLst/>
              <a:uFillTx/>
              <a:latin typeface="Arial"/>
            </a:endParaRPr>
          </a:p>
        </p:txBody>
      </p:sp>
      <p:sp>
        <p:nvSpPr>
          <p:cNvPr id="115" name="Text 36"/>
          <p:cNvSpPr/>
          <p:nvPr/>
        </p:nvSpPr>
        <p:spPr>
          <a:xfrm>
            <a:off x="4706280" y="3652560"/>
            <a:ext cx="3994920" cy="147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17000"/>
              </a:lnSpc>
              <a:tabLst>
                <a:tab pos="0" algn="l"/>
              </a:tabLst>
            </a:pPr>
            <a:r>
              <a:rPr lang="en-US" sz="800" b="0" u="none" strike="noStrike">
                <a:solidFill>
                  <a:srgbClr val="272525"/>
                </a:solidFill>
                <a:effectLst/>
                <a:uFillTx/>
                <a:latin typeface="Inter"/>
                <a:ea typeface="Inter"/>
              </a:rPr>
              <a:t>Version control and collaborative workflow.</a:t>
            </a:r>
            <a:endParaRPr lang="en-US" sz="800" b="0" u="none" strike="noStrike">
              <a:solidFill>
                <a:srgbClr val="000000"/>
              </a:solidFill>
              <a:effectLst/>
              <a:uFillTx/>
              <a:latin typeface="Arial"/>
            </a:endParaRPr>
          </a:p>
        </p:txBody>
      </p:sp>
      <p:pic>
        <p:nvPicPr>
          <p:cNvPr id="116" name="Image 11" descr="preencoded.png"/>
          <p:cNvPicPr/>
          <p:nvPr/>
        </p:nvPicPr>
        <p:blipFill>
          <a:blip>
            <a:extLst>
              <a:ext uri="{96DAC541-7B7A-43D3-8B79-37D633B846F1}">
                <asvg:svgBlip xmlns:asvg="http://schemas.microsoft.com/office/drawing/2016/SVG/main" r:embed="rId6"/>
              </a:ext>
            </a:extLst>
          </a:blip>
          <a:stretch/>
        </p:blipFill>
        <p:spPr>
          <a:xfrm>
            <a:off x="4706280" y="3961080"/>
            <a:ext cx="264960" cy="264960"/>
          </a:xfrm>
          <a:prstGeom prst="rect">
            <a:avLst/>
          </a:prstGeom>
          <a:noFill/>
          <a:ln w="0">
            <a:noFill/>
          </a:ln>
        </p:spPr>
      </p:pic>
      <p:sp>
        <p:nvSpPr>
          <p:cNvPr id="117" name="Text 37"/>
          <p:cNvSpPr/>
          <p:nvPr/>
        </p:nvSpPr>
        <p:spPr>
          <a:xfrm>
            <a:off x="4706280" y="4326480"/>
            <a:ext cx="1785600" cy="165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000" b="1" u="none" strike="noStrike">
                <a:solidFill>
                  <a:srgbClr val="272525"/>
                </a:solidFill>
                <a:effectLst/>
                <a:uFillTx/>
                <a:latin typeface="Inter Bold"/>
                <a:ea typeface="Inter Bold"/>
              </a:rPr>
              <a:t>VS / VS Code</a:t>
            </a:r>
            <a:endParaRPr lang="en-US" sz="1000" b="0" u="none" strike="noStrike">
              <a:solidFill>
                <a:srgbClr val="000000"/>
              </a:solidFill>
              <a:effectLst/>
              <a:uFillTx/>
              <a:latin typeface="Arial"/>
            </a:endParaRPr>
          </a:p>
        </p:txBody>
      </p:sp>
      <p:sp>
        <p:nvSpPr>
          <p:cNvPr id="118" name="Text 38"/>
          <p:cNvSpPr/>
          <p:nvPr/>
        </p:nvSpPr>
        <p:spPr>
          <a:xfrm>
            <a:off x="4706280" y="4572360"/>
            <a:ext cx="3994920" cy="147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17000"/>
              </a:lnSpc>
              <a:tabLst>
                <a:tab pos="0" algn="l"/>
              </a:tabLst>
            </a:pPr>
            <a:r>
              <a:rPr lang="en-US" sz="800" b="0" u="none" strike="noStrike">
                <a:solidFill>
                  <a:srgbClr val="272525"/>
                </a:solidFill>
                <a:effectLst/>
                <a:uFillTx/>
                <a:latin typeface="Inter"/>
                <a:ea typeface="Inter"/>
              </a:rPr>
              <a:t>Code editing and debugging tools.</a:t>
            </a:r>
            <a:endParaRPr lang="en-US" sz="800" b="0" u="none" strike="noStrike">
              <a:solidFill>
                <a:srgbClr val="000000"/>
              </a:solidFill>
              <a:effectLst/>
              <a:uFillTx/>
              <a:latin typeface="Arial"/>
            </a:endParaRPr>
          </a:p>
        </p:txBody>
      </p:sp>
      <p:sp>
        <p:nvSpPr>
          <p:cNvPr id="119" name="Rectangle 118"/>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20" name="Picture 119"/>
          <p:cNvPicPr/>
          <p:nvPr/>
        </p:nvPicPr>
        <p:blipFill>
          <a:blip r:embed="rId7"/>
          <a:stretch/>
        </p:blipFill>
        <p:spPr>
          <a:xfrm>
            <a:off x="7479360" y="685800"/>
            <a:ext cx="749880" cy="749880"/>
          </a:xfrm>
          <a:prstGeom prst="rect">
            <a:avLst/>
          </a:prstGeom>
          <a:noFill/>
          <a:ln w="0">
            <a:noFill/>
          </a:ln>
        </p:spPr>
      </p:pic>
      <p:pic>
        <p:nvPicPr>
          <p:cNvPr id="121" name="Picture 120"/>
          <p:cNvPicPr/>
          <p:nvPr/>
        </p:nvPicPr>
        <p:blipFill>
          <a:blip r:embed="rId8"/>
          <a:stretch/>
        </p:blipFill>
        <p:spPr>
          <a:xfrm>
            <a:off x="7315200" y="1828800"/>
            <a:ext cx="1142640" cy="1142640"/>
          </a:xfrm>
          <a:prstGeom prst="rect">
            <a:avLst/>
          </a:prstGeom>
          <a:noFill/>
          <a:ln w="0">
            <a:noFill/>
          </a:ln>
        </p:spPr>
      </p:pic>
      <p:pic>
        <p:nvPicPr>
          <p:cNvPr id="122" name="Picture 121"/>
          <p:cNvPicPr/>
          <p:nvPr/>
        </p:nvPicPr>
        <p:blipFill>
          <a:blip r:embed="rId9"/>
          <a:stretch/>
        </p:blipFill>
        <p:spPr>
          <a:xfrm>
            <a:off x="7621560" y="3200400"/>
            <a:ext cx="607680" cy="607680"/>
          </a:xfrm>
          <a:prstGeom prst="rect">
            <a:avLst/>
          </a:prstGeom>
          <a:noFill/>
          <a:ln w="0">
            <a:noFill/>
          </a:ln>
        </p:spPr>
      </p:pic>
      <p:pic>
        <p:nvPicPr>
          <p:cNvPr id="123" name="Picture 122"/>
          <p:cNvPicPr/>
          <p:nvPr/>
        </p:nvPicPr>
        <p:blipFill>
          <a:blip r:embed="rId10"/>
          <a:stretch/>
        </p:blipFill>
        <p:spPr>
          <a:xfrm>
            <a:off x="7543800" y="4001760"/>
            <a:ext cx="802080" cy="798480"/>
          </a:xfrm>
          <a:prstGeom prst="rect">
            <a:avLst/>
          </a:prstGeom>
          <a:noFill/>
          <a:ln w="0">
            <a:noFill/>
          </a:ln>
        </p:spPr>
      </p:pic>
      <p:pic>
        <p:nvPicPr>
          <p:cNvPr id="124" name="Picture 123"/>
          <p:cNvPicPr/>
          <p:nvPr/>
        </p:nvPicPr>
        <p:blipFill>
          <a:blip r:embed="rId11"/>
          <a:stretch/>
        </p:blipFill>
        <p:spPr>
          <a:xfrm>
            <a:off x="2057400" y="3429000"/>
            <a:ext cx="2057040" cy="1153800"/>
          </a:xfrm>
          <a:prstGeom prst="rect">
            <a:avLst/>
          </a:prstGeom>
          <a:noFill/>
          <a:ln w="0">
            <a:noFill/>
          </a:ln>
        </p:spPr>
      </p:pic>
      <p:pic>
        <p:nvPicPr>
          <p:cNvPr id="125" name="Picture 124"/>
          <p:cNvPicPr/>
          <p:nvPr/>
        </p:nvPicPr>
        <p:blipFill>
          <a:blip r:embed="rId12"/>
          <a:stretch/>
        </p:blipFill>
        <p:spPr>
          <a:xfrm>
            <a:off x="914400" y="2057400"/>
            <a:ext cx="2055600" cy="11538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 0"/>
          <p:cNvSpPr/>
          <p:nvPr/>
        </p:nvSpPr>
        <p:spPr>
          <a:xfrm>
            <a:off x="3925080" y="1163160"/>
            <a:ext cx="4722120" cy="70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04000"/>
              </a:lnSpc>
              <a:tabLst>
                <a:tab pos="0" algn="l"/>
              </a:tabLst>
            </a:pPr>
            <a:r>
              <a:rPr lang="en-US" sz="2200" b="1" u="none" strike="noStrike">
                <a:solidFill>
                  <a:srgbClr val="000000"/>
                </a:solidFill>
                <a:effectLst/>
                <a:uFillTx/>
                <a:latin typeface="Inter Bold"/>
                <a:ea typeface="Inter Bold"/>
              </a:rPr>
              <a:t>Problems we faced</a:t>
            </a:r>
            <a:endParaRPr lang="en-US" sz="2200" b="0" u="none" strike="noStrike">
              <a:solidFill>
                <a:srgbClr val="000000"/>
              </a:solidFill>
              <a:effectLst/>
              <a:uFillTx/>
              <a:latin typeface="Arial"/>
            </a:endParaRPr>
          </a:p>
        </p:txBody>
      </p:sp>
      <p:sp>
        <p:nvSpPr>
          <p:cNvPr id="127" name="Text 1"/>
          <p:cNvSpPr/>
          <p:nvPr/>
        </p:nvSpPr>
        <p:spPr>
          <a:xfrm>
            <a:off x="3925080" y="2084400"/>
            <a:ext cx="4722120" cy="67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133000"/>
              </a:lnSpc>
              <a:tabLst>
                <a:tab pos="0" algn="l"/>
              </a:tabLst>
            </a:pPr>
            <a:r>
              <a:rPr lang="en-US" sz="1100" b="0" u="none" strike="noStrike">
                <a:solidFill>
                  <a:srgbClr val="272525"/>
                </a:solidFill>
                <a:effectLst/>
                <a:uFillTx/>
                <a:latin typeface="Inter"/>
                <a:ea typeface="Inter"/>
              </a:rPr>
              <a:t>Most of us weren’t familiar with Unity and most of all none of us have ever worked on a game project so with that came problems that we never have faced:</a:t>
            </a:r>
            <a:endParaRPr lang="en-US" sz="1100" b="0" u="none" strike="noStrike">
              <a:solidFill>
                <a:srgbClr val="000000"/>
              </a:solidFill>
              <a:effectLst/>
              <a:uFillTx/>
              <a:latin typeface="Arial"/>
            </a:endParaRPr>
          </a:p>
        </p:txBody>
      </p:sp>
      <p:sp>
        <p:nvSpPr>
          <p:cNvPr id="128" name="Text 2"/>
          <p:cNvSpPr/>
          <p:nvPr/>
        </p:nvSpPr>
        <p:spPr>
          <a:xfrm>
            <a:off x="3925080" y="2924280"/>
            <a:ext cx="4722120" cy="10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Experience different components of unity</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Allies / Enemy AI working</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Balancing: Giving personalities to different plants and enemy</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Interaction between Code and editor</a:t>
            </a:r>
            <a:endParaRPr lang="en-US" sz="1100" b="0" u="none" strike="noStrike">
              <a:solidFill>
                <a:srgbClr val="000000"/>
              </a:solidFill>
              <a:effectLst/>
              <a:uFillTx/>
              <a:latin typeface="Arial"/>
            </a:endParaRPr>
          </a:p>
        </p:txBody>
      </p:sp>
      <p:sp>
        <p:nvSpPr>
          <p:cNvPr id="129" name="Rectangle 128"/>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30" name="Picture 129"/>
          <p:cNvPicPr/>
          <p:nvPr/>
        </p:nvPicPr>
        <p:blipFill>
          <a:blip r:embed="rId3"/>
          <a:stretch/>
        </p:blipFill>
        <p:spPr>
          <a:xfrm>
            <a:off x="0" y="0"/>
            <a:ext cx="3428280" cy="525744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 0"/>
          <p:cNvSpPr/>
          <p:nvPr/>
        </p:nvSpPr>
        <p:spPr>
          <a:xfrm>
            <a:off x="496080" y="1344960"/>
            <a:ext cx="3766320" cy="353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200" b="1" u="none" strike="noStrike">
                <a:solidFill>
                  <a:srgbClr val="000000"/>
                </a:solidFill>
                <a:effectLst/>
                <a:uFillTx/>
                <a:latin typeface="Inter Bold"/>
                <a:ea typeface="Inter Bold"/>
              </a:rPr>
              <a:t>What We Achieved</a:t>
            </a:r>
            <a:endParaRPr lang="en-US" sz="2200" b="0" u="none" strike="noStrike">
              <a:solidFill>
                <a:srgbClr val="000000"/>
              </a:solidFill>
              <a:effectLst/>
              <a:uFillTx/>
              <a:latin typeface="Arial"/>
            </a:endParaRPr>
          </a:p>
        </p:txBody>
      </p:sp>
      <p:sp>
        <p:nvSpPr>
          <p:cNvPr id="132" name="Text 1"/>
          <p:cNvSpPr/>
          <p:nvPr/>
        </p:nvSpPr>
        <p:spPr>
          <a:xfrm>
            <a:off x="496080" y="2053440"/>
            <a:ext cx="222840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000000"/>
                </a:solidFill>
                <a:effectLst/>
                <a:uFillTx/>
                <a:latin typeface="Inter Bold"/>
                <a:ea typeface="Inter Bold"/>
              </a:rPr>
              <a:t>Included</a:t>
            </a:r>
            <a:endParaRPr lang="en-US" sz="1350" b="0" u="none" strike="noStrike">
              <a:solidFill>
                <a:srgbClr val="000000"/>
              </a:solidFill>
              <a:effectLst/>
              <a:uFillTx/>
              <a:latin typeface="Arial"/>
            </a:endParaRPr>
          </a:p>
        </p:txBody>
      </p:sp>
      <p:sp>
        <p:nvSpPr>
          <p:cNvPr id="133" name="Text 2"/>
          <p:cNvSpPr/>
          <p:nvPr/>
        </p:nvSpPr>
        <p:spPr>
          <a:xfrm>
            <a:off x="496080" y="2416680"/>
            <a:ext cx="3902400" cy="13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Side-scrolling movement &amp; combat mechanics</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Health system</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Wave-based enemy AI spawn</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Allies with their personal identity and AI</a:t>
            </a:r>
            <a:endParaRPr lang="en-US" sz="1100" b="0" u="none" strike="noStrike">
              <a:solidFill>
                <a:srgbClr val="000000"/>
              </a:solidFill>
              <a:effectLst/>
              <a:uFillTx/>
              <a:latin typeface="Arial"/>
            </a:endParaRPr>
          </a:p>
        </p:txBody>
      </p:sp>
      <p:sp>
        <p:nvSpPr>
          <p:cNvPr id="134" name="Text 3"/>
          <p:cNvSpPr/>
          <p:nvPr/>
        </p:nvSpPr>
        <p:spPr>
          <a:xfrm>
            <a:off x="4749840" y="2053440"/>
            <a:ext cx="2548080"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350" b="1" u="none" strike="noStrike">
                <a:solidFill>
                  <a:srgbClr val="000000"/>
                </a:solidFill>
                <a:effectLst/>
                <a:uFillTx/>
                <a:latin typeface="Inter Bold"/>
                <a:ea typeface="Inter Bold"/>
              </a:rPr>
              <a:t>Excluded (Out of Scope)</a:t>
            </a:r>
            <a:endParaRPr lang="en-US" sz="1350" b="0" u="none" strike="noStrike">
              <a:solidFill>
                <a:srgbClr val="000000"/>
              </a:solidFill>
              <a:effectLst/>
              <a:uFillTx/>
              <a:latin typeface="Arial"/>
            </a:endParaRPr>
          </a:p>
        </p:txBody>
      </p:sp>
      <p:sp>
        <p:nvSpPr>
          <p:cNvPr id="135" name="Text 4"/>
          <p:cNvSpPr/>
          <p:nvPr/>
        </p:nvSpPr>
        <p:spPr>
          <a:xfrm>
            <a:off x="4749840" y="2416680"/>
            <a:ext cx="39024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Online multiplayer (reserved for future updates)</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In-game currency / shop system</a:t>
            </a:r>
            <a:endParaRPr lang="en-US" sz="1100" b="0" u="none" strike="noStrike">
              <a:solidFill>
                <a:srgbClr val="000000"/>
              </a:solidFill>
              <a:effectLst/>
              <a:uFillTx/>
              <a:latin typeface="Arial"/>
            </a:endParaRPr>
          </a:p>
          <a:p>
            <a:pPr marL="343080" indent="-343080">
              <a:lnSpc>
                <a:spcPct val="133000"/>
              </a:lnSpc>
              <a:buClr>
                <a:srgbClr val="272525"/>
              </a:buClr>
              <a:buFont typeface="Symbol" charset="2"/>
              <a:buChar char=""/>
            </a:pPr>
            <a:r>
              <a:rPr lang="en-US" sz="1100" b="0" u="none" strike="noStrike">
                <a:solidFill>
                  <a:srgbClr val="272525"/>
                </a:solidFill>
                <a:effectLst/>
                <a:uFillTx/>
                <a:latin typeface="Inter"/>
                <a:ea typeface="Inter"/>
              </a:rPr>
              <a:t>Advanced procedural world generation</a:t>
            </a:r>
            <a:endParaRPr lang="en-US" sz="1100" b="0" u="none" strike="noStrike">
              <a:solidFill>
                <a:srgbClr val="000000"/>
              </a:solidFill>
              <a:effectLst/>
              <a:uFillTx/>
              <a:latin typeface="Arial"/>
            </a:endParaRPr>
          </a:p>
        </p:txBody>
      </p:sp>
      <p:sp>
        <p:nvSpPr>
          <p:cNvPr id="136" name="Rectangle 135"/>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 0"/>
          <p:cNvSpPr/>
          <p:nvPr/>
        </p:nvSpPr>
        <p:spPr>
          <a:xfrm>
            <a:off x="457200" y="1600200"/>
            <a:ext cx="3599640" cy="281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1750" b="1" u="none" strike="noStrike">
                <a:solidFill>
                  <a:srgbClr val="000000"/>
                </a:solidFill>
                <a:effectLst/>
                <a:uFillTx/>
                <a:latin typeface="Inter Bold"/>
                <a:ea typeface="Inter Bold"/>
              </a:rPr>
              <a:t>Future Improvements</a:t>
            </a:r>
            <a:endParaRPr lang="en-US" sz="1750" b="0" u="none" strike="noStrike">
              <a:solidFill>
                <a:srgbClr val="000000"/>
              </a:solidFill>
              <a:effectLst/>
              <a:uFillTx/>
              <a:latin typeface="Arial"/>
            </a:endParaRPr>
          </a:p>
        </p:txBody>
      </p:sp>
      <p:sp>
        <p:nvSpPr>
          <p:cNvPr id="138" name="Text 2"/>
          <p:cNvSpPr/>
          <p:nvPr/>
        </p:nvSpPr>
        <p:spPr>
          <a:xfrm>
            <a:off x="423000" y="1969560"/>
            <a:ext cx="2548440" cy="1230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2500" lnSpcReduction="9999"/>
          </a:bodyPr>
          <a:lstStyle/>
          <a:p>
            <a:pPr marL="343080" indent="-343080">
              <a:lnSpc>
                <a:spcPct val="120000"/>
              </a:lnSpc>
              <a:buClr>
                <a:srgbClr val="272525"/>
              </a:buClr>
              <a:buFont typeface="Calibri Light"/>
              <a:buAutoNum type="arabicPeriod"/>
            </a:pPr>
            <a:r>
              <a:rPr lang="en-US" sz="1200" b="0" u="none" strike="noStrike">
                <a:solidFill>
                  <a:srgbClr val="272525"/>
                </a:solidFill>
                <a:effectLst/>
                <a:uFillTx/>
                <a:latin typeface="Inter"/>
                <a:ea typeface="Inter"/>
              </a:rPr>
              <a:t>Graphical Improvement</a:t>
            </a:r>
            <a:endParaRPr lang="en-US" sz="1200" b="0" u="none" strike="noStrike">
              <a:solidFill>
                <a:srgbClr val="000000"/>
              </a:solidFill>
              <a:effectLst/>
              <a:uFillTx/>
              <a:latin typeface="Arial"/>
            </a:endParaRPr>
          </a:p>
          <a:p>
            <a:pPr marL="343080" indent="-343080">
              <a:lnSpc>
                <a:spcPct val="120000"/>
              </a:lnSpc>
              <a:buClr>
                <a:srgbClr val="272525"/>
              </a:buClr>
              <a:buFont typeface="Calibri Light"/>
              <a:buAutoNum type="arabicPeriod"/>
            </a:pPr>
            <a:r>
              <a:rPr lang="en-US" sz="1200" b="0" u="none" strike="noStrike">
                <a:solidFill>
                  <a:srgbClr val="272525"/>
                </a:solidFill>
                <a:effectLst/>
                <a:uFillTx/>
                <a:latin typeface="Inter"/>
                <a:ea typeface="Inter"/>
              </a:rPr>
              <a:t>More levels getting difficult progressively.</a:t>
            </a:r>
            <a:endParaRPr lang="en-US" sz="1200" b="0" u="none" strike="noStrike">
              <a:solidFill>
                <a:srgbClr val="000000"/>
              </a:solidFill>
              <a:effectLst/>
              <a:uFillTx/>
              <a:latin typeface="Arial"/>
            </a:endParaRPr>
          </a:p>
          <a:p>
            <a:pPr marL="343080" indent="-343080">
              <a:lnSpc>
                <a:spcPct val="120000"/>
              </a:lnSpc>
              <a:buClr>
                <a:srgbClr val="272525"/>
              </a:buClr>
              <a:buFont typeface="Calibri Light"/>
              <a:buAutoNum type="arabicPeriod"/>
            </a:pPr>
            <a:r>
              <a:rPr lang="en-US" sz="1200" b="0" u="none" strike="noStrike">
                <a:solidFill>
                  <a:srgbClr val="272525"/>
                </a:solidFill>
                <a:effectLst/>
                <a:uFillTx/>
                <a:latin typeface="Inter"/>
                <a:ea typeface="Inter"/>
              </a:rPr>
              <a:t>More variety in plants and zombie.</a:t>
            </a:r>
            <a:endParaRPr lang="en-US" sz="1200" b="0" u="none" strike="noStrike">
              <a:solidFill>
                <a:srgbClr val="000000"/>
              </a:solidFill>
              <a:effectLst/>
              <a:uFillTx/>
              <a:latin typeface="Arial"/>
            </a:endParaRPr>
          </a:p>
          <a:p>
            <a:pPr marL="343080" indent="-343080">
              <a:lnSpc>
                <a:spcPct val="120000"/>
              </a:lnSpc>
              <a:buClr>
                <a:srgbClr val="272525"/>
              </a:buClr>
              <a:buFont typeface="Calibri Light"/>
              <a:buAutoNum type="arabicPeriod"/>
            </a:pPr>
            <a:r>
              <a:rPr lang="en-US" sz="1200" b="0" u="none" strike="noStrike">
                <a:solidFill>
                  <a:srgbClr val="272525"/>
                </a:solidFill>
                <a:effectLst/>
                <a:uFillTx/>
                <a:latin typeface="Inter"/>
                <a:ea typeface="Inter"/>
              </a:rPr>
              <a:t>In-game currency management.</a:t>
            </a:r>
            <a:endParaRPr lang="en-US" sz="1200" b="0" u="none" strike="noStrike">
              <a:solidFill>
                <a:srgbClr val="000000"/>
              </a:solidFill>
              <a:effectLst/>
              <a:uFillTx/>
              <a:latin typeface="Arial"/>
            </a:endParaRPr>
          </a:p>
        </p:txBody>
      </p:sp>
      <p:sp>
        <p:nvSpPr>
          <p:cNvPr id="139" name="Rectangle 138"/>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pic>
        <p:nvPicPr>
          <p:cNvPr id="140" name="Picture 139"/>
          <p:cNvPicPr/>
          <p:nvPr/>
        </p:nvPicPr>
        <p:blipFill>
          <a:blip r:embed="rId3"/>
          <a:stretch/>
        </p:blipFill>
        <p:spPr>
          <a:xfrm>
            <a:off x="3272760" y="228960"/>
            <a:ext cx="5714640" cy="457344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ext 0"/>
          <p:cNvSpPr/>
          <p:nvPr/>
        </p:nvSpPr>
        <p:spPr>
          <a:xfrm>
            <a:off x="496080" y="2350080"/>
            <a:ext cx="5127480" cy="442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nSpc>
                <a:spcPct val="104000"/>
              </a:lnSpc>
              <a:tabLst>
                <a:tab pos="0" algn="l"/>
              </a:tabLst>
            </a:pPr>
            <a:r>
              <a:rPr lang="en-US" sz="2750" b="1" u="none" strike="noStrike">
                <a:solidFill>
                  <a:srgbClr val="000000"/>
                </a:solidFill>
                <a:effectLst/>
                <a:uFillTx/>
                <a:latin typeface="Inter Bold"/>
                <a:ea typeface="Inter Bold"/>
              </a:rPr>
              <a:t>                                  Thank you</a:t>
            </a:r>
            <a:endParaRPr lang="en-US" sz="2750" b="0" u="none" strike="noStrike">
              <a:solidFill>
                <a:srgbClr val="000000"/>
              </a:solidFill>
              <a:effectLst/>
              <a:uFillTx/>
              <a:latin typeface="Arial"/>
            </a:endParaRPr>
          </a:p>
        </p:txBody>
      </p:sp>
      <p:sp>
        <p:nvSpPr>
          <p:cNvPr id="142" name="Rectangle 141"/>
          <p:cNvSpPr/>
          <p:nvPr/>
        </p:nvSpPr>
        <p:spPr>
          <a:xfrm>
            <a:off x="8001360" y="4800960"/>
            <a:ext cx="1142640" cy="342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TotalTime>
  <Words>540</Words>
  <Application>Microsoft Office PowerPoint</Application>
  <PresentationFormat>On-screen Show (16:9)</PresentationFormat>
  <Paragraphs>78</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Symbol</vt:lpstr>
      <vt:lpstr>Inter Bold</vt:lpstr>
      <vt:lpstr>Wingdings</vt:lpstr>
      <vt:lpstr>Calibri Light</vt:lpstr>
      <vt:lpstr>Arial</vt:lpstr>
      <vt:lpstr>Inter</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Maaz Khan</dc:creator>
  <dc:description/>
  <cp:lastModifiedBy>Maaz Khan</cp:lastModifiedBy>
  <cp:revision>19</cp:revision>
  <dcterms:created xsi:type="dcterms:W3CDTF">2026-05-19T09:13:56Z</dcterms:created>
  <dcterms:modified xsi:type="dcterms:W3CDTF">2026-05-20T00:02:12Z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